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7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1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4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8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4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7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9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2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8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28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551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6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8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0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963A9-BD33-40DF-B653-97A7418C1CA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38745F-A53F-4C9D-BB4B-A40FEF7E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52D2-0AA3-D829-0C37-48788D53B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582" y="526093"/>
            <a:ext cx="8985905" cy="2120060"/>
          </a:xfrm>
        </p:spPr>
        <p:txBody>
          <a:bodyPr/>
          <a:lstStyle/>
          <a:p>
            <a:pPr algn="ctr"/>
            <a:r>
              <a:rPr lang="en-US" sz="3200" b="1" dirty="0"/>
              <a:t>Resource Management Schemes for Cloud-Native Platforms</a:t>
            </a:r>
            <a:br>
              <a:rPr lang="en-US" sz="3200" b="1" dirty="0"/>
            </a:br>
            <a:r>
              <a:rPr lang="en-US" sz="3200" b="1" dirty="0"/>
              <a:t>with Docker and Kubernetes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B4773-3AE9-D408-67BD-3D6B25644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582" y="2229634"/>
            <a:ext cx="10651415" cy="5192038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Authors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Ying Mao, Yuqi Fu, </a:t>
            </a:r>
            <a:r>
              <a:rPr lang="en-US" sz="2400" dirty="0" err="1">
                <a:solidFill>
                  <a:schemeClr val="tx1"/>
                </a:solidFill>
              </a:rPr>
              <a:t>Suwen</a:t>
            </a:r>
            <a:r>
              <a:rPr lang="en-US" sz="2400" dirty="0">
                <a:solidFill>
                  <a:schemeClr val="tx1"/>
                </a:solidFill>
              </a:rPr>
              <a:t> Gu, </a:t>
            </a:r>
            <a:r>
              <a:rPr lang="en-US" sz="2400" dirty="0" err="1">
                <a:solidFill>
                  <a:schemeClr val="tx1"/>
                </a:solidFill>
              </a:rPr>
              <a:t>Wenrui</a:t>
            </a:r>
            <a:r>
              <a:rPr lang="en-US" sz="2400" dirty="0">
                <a:solidFill>
                  <a:schemeClr val="tx1"/>
                </a:solidFill>
              </a:rPr>
              <a:t> Mu, Long Cheng, </a:t>
            </a:r>
            <a:r>
              <a:rPr lang="en-US" sz="2400" dirty="0" err="1">
                <a:solidFill>
                  <a:schemeClr val="tx1"/>
                </a:solidFill>
              </a:rPr>
              <a:t>Qingzhi</a:t>
            </a:r>
            <a:r>
              <a:rPr lang="en-US" sz="2400" dirty="0">
                <a:solidFill>
                  <a:schemeClr val="tx1"/>
                </a:solidFill>
              </a:rPr>
              <a:t> Liu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</a:rPr>
              <a:t>Published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arXiv</a:t>
            </a:r>
            <a:r>
              <a:rPr lang="en-US" sz="2400" dirty="0">
                <a:solidFill>
                  <a:schemeClr val="tx1"/>
                </a:solidFill>
              </a:rPr>
              <a:t>, 2020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</a:rPr>
              <a:t>Main Focus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Performance comparison of Docker and Kubernetes for: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Deep Learning workloads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Big Data workloads</a:t>
            </a:r>
          </a:p>
          <a:p>
            <a:pPr algn="l"/>
            <a:endParaRPr lang="en-US" sz="24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0622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4F9F-16AA-640B-AECD-3729162A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174F-0B54-70F0-BD64-A45829998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0389"/>
            <a:ext cx="8596668" cy="53110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Background:</a:t>
            </a:r>
          </a:p>
          <a:p>
            <a:r>
              <a:rPr lang="en-US" dirty="0"/>
              <a:t>Cloud computing allows scalable and flexible computing.</a:t>
            </a:r>
          </a:p>
          <a:p>
            <a:r>
              <a:rPr lang="en-US" dirty="0"/>
              <a:t>Traditional Virtual Machines (VMs) are heavy and consume more memory and CPU.</a:t>
            </a:r>
          </a:p>
          <a:p>
            <a:r>
              <a:rPr lang="en-US" dirty="0"/>
              <a:t>Containers are lightweight and faster to deploy.</a:t>
            </a:r>
          </a:p>
          <a:p>
            <a:r>
              <a:rPr lang="en-US" dirty="0"/>
              <a:t>Docker and Kubernetes are widely used in modern cloud systems.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2400" b="1" dirty="0"/>
              <a:t>Motivation:</a:t>
            </a:r>
          </a:p>
          <a:p>
            <a:r>
              <a:rPr lang="en-US" dirty="0"/>
              <a:t>Resource management directly impacts performance.</a:t>
            </a:r>
          </a:p>
          <a:p>
            <a:r>
              <a:rPr lang="en-US" dirty="0"/>
              <a:t>Different platforms manage CPU and memory differently.</a:t>
            </a:r>
          </a:p>
          <a:p>
            <a:r>
              <a:rPr lang="en-US" dirty="0"/>
              <a:t>Need to understand:</a:t>
            </a:r>
          </a:p>
          <a:p>
            <a:pPr lvl="1"/>
            <a:r>
              <a:rPr lang="en-US" dirty="0"/>
              <a:t>Which platform performs better?</a:t>
            </a:r>
          </a:p>
          <a:p>
            <a:pPr lvl="1"/>
            <a:r>
              <a:rPr lang="en-US" dirty="0"/>
              <a:t>How configuration affects speed and efficiency?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6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C196-0157-E561-EE33-B279D2A3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35C4-B10F-CD84-6CD2-03BBF833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2811"/>
            <a:ext cx="8596668" cy="5361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Problem Statement:</a:t>
            </a:r>
          </a:p>
          <a:p>
            <a:r>
              <a:rPr lang="en-US" dirty="0"/>
              <a:t>How do resource allocation strategies affect job completion time?</a:t>
            </a:r>
          </a:p>
          <a:p>
            <a:r>
              <a:rPr lang="en-US" dirty="0"/>
              <a:t>What happens when multiple jobs run together?</a:t>
            </a:r>
          </a:p>
          <a:p>
            <a:r>
              <a:rPr lang="en-US" dirty="0"/>
              <a:t>Does dynamic scheduling improve performance?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2400" b="1" dirty="0"/>
              <a:t>Key Findings:</a:t>
            </a:r>
          </a:p>
          <a:p>
            <a:r>
              <a:rPr lang="en-US" dirty="0"/>
              <a:t>Performance improved up to:</a:t>
            </a:r>
          </a:p>
          <a:p>
            <a:pPr lvl="1"/>
            <a:r>
              <a:rPr lang="en-US" b="1" dirty="0"/>
              <a:t>79.4% in Docker</a:t>
            </a:r>
            <a:endParaRPr lang="en-US" dirty="0"/>
          </a:p>
          <a:p>
            <a:pPr lvl="1"/>
            <a:r>
              <a:rPr lang="en-US" b="1" dirty="0"/>
              <a:t>69.4% in Kubernetes</a:t>
            </a:r>
            <a:r>
              <a:rPr lang="en-US" dirty="0"/>
              <a:t> (after tuning settings)</a:t>
            </a:r>
          </a:p>
          <a:p>
            <a:r>
              <a:rPr lang="en-US" dirty="0"/>
              <a:t>Kubernetes dynamically adjusts CPU better.</a:t>
            </a:r>
          </a:p>
          <a:p>
            <a:r>
              <a:rPr lang="en-US" dirty="0"/>
              <a:t>Docker sometimes delays resource release by up to 116%.</a:t>
            </a:r>
          </a:p>
          <a:p>
            <a:r>
              <a:rPr lang="en-US" dirty="0"/>
              <a:t>In cluster setup, completion time difference reached 96.7%.</a:t>
            </a:r>
          </a:p>
          <a:p>
            <a:r>
              <a:rPr lang="en-US" dirty="0"/>
              <a:t>Thread configuration strongly impacts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740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9C5B-3FBA-48BD-64EC-B84162E4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C3AB0-D53B-028F-4C3F-849C6D012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5718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Objectives</a:t>
            </a:r>
          </a:p>
          <a:p>
            <a:r>
              <a:rPr lang="en-US" dirty="0"/>
              <a:t>Compare Docker Swarm and Kubernetes.</a:t>
            </a:r>
          </a:p>
          <a:p>
            <a:r>
              <a:rPr lang="en-US" dirty="0"/>
              <a:t>Analyze resource usage (CPU &amp; Memory).</a:t>
            </a:r>
          </a:p>
          <a:p>
            <a:r>
              <a:rPr lang="en-US" dirty="0"/>
              <a:t>Evaluate single-node and multi-node cluster systems.</a:t>
            </a:r>
          </a:p>
          <a:p>
            <a:r>
              <a:rPr lang="en-US" dirty="0"/>
              <a:t>Test different scheduling and configuration settings.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2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F246-D320-5379-B8DC-5DC1C200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A9A8C-D382-151B-5DAC-D43BC059F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65545"/>
            <a:ext cx="9619061" cy="5148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Methodology</a:t>
            </a:r>
          </a:p>
          <a:p>
            <a:r>
              <a:rPr lang="en-US" dirty="0"/>
              <a:t>Built monitoring system using Prometheus &amp; Grafana.</a:t>
            </a:r>
          </a:p>
          <a:p>
            <a:r>
              <a:rPr lang="en-US" dirty="0"/>
              <a:t>Conducted experiments with:</a:t>
            </a:r>
          </a:p>
          <a:p>
            <a:pPr lvl="1"/>
            <a:r>
              <a:rPr lang="en-US" dirty="0"/>
              <a:t>Deep Learning: TensorFlow, </a:t>
            </a:r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Big Data: Spark, Hadoop Yarn</a:t>
            </a:r>
          </a:p>
          <a:p>
            <a:r>
              <a:rPr lang="en-US" dirty="0"/>
              <a:t>Tested different scenarios:</a:t>
            </a:r>
          </a:p>
          <a:p>
            <a:pPr lvl="1"/>
            <a:r>
              <a:rPr lang="en-US" dirty="0"/>
              <a:t>1 job vs multiple jobs</a:t>
            </a:r>
          </a:p>
          <a:p>
            <a:pPr lvl="1"/>
            <a:r>
              <a:rPr lang="en-US" dirty="0"/>
              <a:t>With and without resource limits</a:t>
            </a:r>
          </a:p>
          <a:p>
            <a:pPr lvl="1"/>
            <a:r>
              <a:rPr lang="en-US" dirty="0"/>
              <a:t>Burst and scheduled job submissions</a:t>
            </a:r>
          </a:p>
          <a:p>
            <a:pPr marL="0" indent="0">
              <a:buNone/>
            </a:pPr>
            <a:r>
              <a:rPr lang="en-US" dirty="0"/>
              <a:t>Measured:</a:t>
            </a:r>
          </a:p>
          <a:p>
            <a:pPr lvl="1"/>
            <a:r>
              <a:rPr lang="en-US" dirty="0"/>
              <a:t>Completion time</a:t>
            </a:r>
          </a:p>
          <a:p>
            <a:pPr lvl="1"/>
            <a:r>
              <a:rPr lang="en-US" dirty="0"/>
              <a:t>CPU usage</a:t>
            </a:r>
          </a:p>
          <a:p>
            <a:pPr lvl="1"/>
            <a:r>
              <a:rPr lang="en-US" dirty="0"/>
              <a:t>Memory usage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1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7FCD-5371-5BF2-F2E8-DEB5DD2E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&amp; Practical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C015-0FC3-FD6F-EE3D-BD0763A6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0391"/>
            <a:ext cx="8898221" cy="5339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Applications</a:t>
            </a:r>
          </a:p>
          <a:p>
            <a:r>
              <a:rPr lang="en-US" dirty="0"/>
              <a:t>AI model training in cloud</a:t>
            </a:r>
          </a:p>
          <a:p>
            <a:r>
              <a:rPr lang="en-US" dirty="0"/>
              <a:t>Big data analytics</a:t>
            </a:r>
          </a:p>
          <a:p>
            <a:r>
              <a:rPr lang="en-US" dirty="0"/>
              <a:t>Enterprise cloud platforms</a:t>
            </a:r>
          </a:p>
          <a:p>
            <a:r>
              <a:rPr lang="en-US" dirty="0"/>
              <a:t>Microservices-based applications</a:t>
            </a:r>
          </a:p>
          <a:p>
            <a:pPr marL="0" indent="0">
              <a:buNone/>
            </a:pPr>
            <a:r>
              <a:rPr lang="en-US" sz="2400" b="1" dirty="0"/>
              <a:t>Practical Importance</a:t>
            </a:r>
          </a:p>
          <a:p>
            <a:r>
              <a:rPr lang="en-US" dirty="0"/>
              <a:t>Helps companies reduce cloud cost.</a:t>
            </a:r>
          </a:p>
          <a:p>
            <a:r>
              <a:rPr lang="en-US" dirty="0"/>
              <a:t>Improves workload performance.</a:t>
            </a:r>
          </a:p>
          <a:p>
            <a:r>
              <a:rPr lang="en-US" dirty="0"/>
              <a:t>Guides developers in choosing the right orchestration tool.</a:t>
            </a:r>
          </a:p>
          <a:p>
            <a:r>
              <a:rPr lang="en-US" dirty="0"/>
              <a:t>Shows importance of tuning CPU threads and resource limits.</a:t>
            </a:r>
          </a:p>
          <a:p>
            <a:r>
              <a:rPr lang="en-US" dirty="0"/>
              <a:t>Real-world impact:</a:t>
            </a:r>
            <a:br>
              <a:rPr lang="en-US" dirty="0"/>
            </a:br>
            <a:r>
              <a:rPr lang="en-US" dirty="0"/>
              <a:t>Better resource management = Faster systems + Lower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5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14FA-2281-D92D-2122-94414A9E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Conclusion, Student Learning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73102-180A-0BE7-3EB5-5F512AB0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Conclusion</a:t>
            </a:r>
          </a:p>
          <a:p>
            <a:r>
              <a:rPr lang="en-US" dirty="0"/>
              <a:t>Kubernetes is better for dynamic workloads.</a:t>
            </a:r>
          </a:p>
          <a:p>
            <a:r>
              <a:rPr lang="en-US" dirty="0"/>
              <a:t>Docker provides simpler management but less flexible scheduling.</a:t>
            </a:r>
          </a:p>
          <a:p>
            <a:r>
              <a:rPr lang="en-US" dirty="0"/>
              <a:t>Resource limits can reduce performance if not configured properly.</a:t>
            </a:r>
          </a:p>
          <a:p>
            <a:r>
              <a:rPr lang="en-US" dirty="0"/>
              <a:t>Thread optimization significantly improves speed.</a:t>
            </a:r>
          </a:p>
          <a:p>
            <a:r>
              <a:rPr lang="en-US" dirty="0"/>
              <a:t>Platform choice depends on workload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2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4355-8F9A-B3EE-54B4-20134E87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Conclusion, Student Learning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08101-0C87-1865-ED21-B585A2AFB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30754" cy="4515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Student Learning</a:t>
            </a:r>
          </a:p>
          <a:p>
            <a:r>
              <a:rPr lang="en-US" dirty="0"/>
              <a:t>Understood cloud-native computing concepts.</a:t>
            </a:r>
          </a:p>
          <a:p>
            <a:r>
              <a:rPr lang="en-US" dirty="0"/>
              <a:t>Learned difference between containers and VMs.</a:t>
            </a:r>
          </a:p>
          <a:p>
            <a:r>
              <a:rPr lang="en-US" dirty="0"/>
              <a:t>Explored Docker Swarm vs Kubernetes.</a:t>
            </a:r>
          </a:p>
          <a:p>
            <a:r>
              <a:rPr lang="en-US" dirty="0"/>
              <a:t>Learned importance of resource scheduling.</a:t>
            </a:r>
          </a:p>
          <a:p>
            <a:r>
              <a:rPr lang="en-US" dirty="0"/>
              <a:t>Understood performance evaluation techniques.</a:t>
            </a:r>
          </a:p>
          <a:p>
            <a:pPr marL="0" indent="0">
              <a:buNone/>
            </a:pPr>
            <a:r>
              <a:rPr lang="en-US" sz="2400" b="1" dirty="0"/>
              <a:t>References</a:t>
            </a:r>
          </a:p>
          <a:p>
            <a:r>
              <a:rPr lang="en-US" dirty="0"/>
              <a:t>Mao et al., 2020 (</a:t>
            </a:r>
            <a:r>
              <a:rPr lang="en-US" dirty="0" err="1"/>
              <a:t>arXiv</a:t>
            </a:r>
            <a:r>
              <a:rPr lang="en-US" dirty="0"/>
              <a:t> Research Paper)</a:t>
            </a:r>
          </a:p>
          <a:p>
            <a:r>
              <a:rPr lang="en-US" dirty="0"/>
              <a:t>Docker Documentation</a:t>
            </a:r>
          </a:p>
          <a:p>
            <a:r>
              <a:rPr lang="en-US" dirty="0"/>
              <a:t>Kubernetes Documentation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349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467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Resource Management Schemes for Cloud-Native Platforms with Docker and Kubernetes </vt:lpstr>
      <vt:lpstr>Background &amp; Motivation</vt:lpstr>
      <vt:lpstr>Problem Statement &amp; Key Findings</vt:lpstr>
      <vt:lpstr>Objectives &amp; Methodology</vt:lpstr>
      <vt:lpstr>Objectives &amp; Methodology</vt:lpstr>
      <vt:lpstr>Applications &amp; Practical Relevance</vt:lpstr>
      <vt:lpstr>Conclusion, Student Learning &amp; References</vt:lpstr>
      <vt:lpstr>Conclusion, Student Learning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yadav</dc:creator>
  <cp:lastModifiedBy>Anurag yadav</cp:lastModifiedBy>
  <cp:revision>1</cp:revision>
  <dcterms:created xsi:type="dcterms:W3CDTF">2026-02-25T09:28:03Z</dcterms:created>
  <dcterms:modified xsi:type="dcterms:W3CDTF">2026-02-25T09:50:41Z</dcterms:modified>
</cp:coreProperties>
</file>